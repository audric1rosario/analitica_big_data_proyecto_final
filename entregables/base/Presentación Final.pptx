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R3flM7GbZ8LTzk3j/bxbOApao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Comentarios</c:v>
          </c:tx>
          <c:dLbls>
            <c:dLbl>
              <c:idx val="0"/>
              <c:layout>
                <c:manualLayout>
                  <c:x val="0.23174603174603176"/>
                  <c:y val="-8.5333333333333386E-2"/>
                </c:manualLayout>
              </c:layout>
              <c:showLegendKey val="1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FFD-4D4A-87D3-B445E7FB28A6}"/>
                </c:ext>
              </c:extLst>
            </c:dLbl>
            <c:dLbl>
              <c:idx val="1"/>
              <c:layout>
                <c:manualLayout>
                  <c:x val="-0.30476190476190484"/>
                  <c:y val="0.13333333333333325"/>
                </c:manualLayout>
              </c:layout>
              <c:showLegendKey val="1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FD-4D4A-87D3-B445E7FB28A6}"/>
                </c:ext>
              </c:extLst>
            </c:dLbl>
            <c:dLbl>
              <c:idx val="2"/>
              <c:layout>
                <c:manualLayout>
                  <c:x val="-0.1898387701537308"/>
                  <c:y val="-0.10666666666666667"/>
                </c:manualLayout>
              </c:layout>
              <c:showLegendKey val="1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FD-4D4A-87D3-B445E7FB28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/>
                </a:pPr>
                <a:endParaRPr lang="es-DO"/>
              </a:p>
            </c:txPr>
            <c:showLegendKey val="1"/>
            <c:showVal val="1"/>
            <c:showCatName val="1"/>
            <c:showSerName val="1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Neutro</c:v>
              </c:pt>
              <c:pt idx="1">
                <c:v>Negativo</c:v>
              </c:pt>
              <c:pt idx="2">
                <c:v>Positivo</c:v>
              </c:pt>
            </c:strLit>
          </c:cat>
          <c:val>
            <c:numLit>
              <c:formatCode>General</c:formatCode>
              <c:ptCount val="3"/>
              <c:pt idx="0">
                <c:v>365</c:v>
              </c:pt>
              <c:pt idx="1">
                <c:v>263</c:v>
              </c:pt>
              <c:pt idx="2">
                <c:v>171</c:v>
              </c:pt>
            </c:numLit>
          </c:val>
          <c:extLst>
            <c:ext xmlns:c16="http://schemas.microsoft.com/office/drawing/2014/chart" uri="{C3380CC4-5D6E-409C-BE32-E72D297353CC}">
              <c16:uniqueId val="{00000000-7FFD-4D4A-87D3-B445E7FB28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Conteo</c:v>
          </c:tx>
          <c:spPr>
            <a:solidFill>
              <a:srgbClr val="DC262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Neutro</c:v>
              </c:pt>
              <c:pt idx="1">
                <c:v>Negativo</c:v>
              </c:pt>
              <c:pt idx="2">
                <c:v>Positivo</c:v>
              </c:pt>
            </c:strLit>
          </c:cat>
          <c:val>
            <c:numLit>
              <c:formatCode>General</c:formatCode>
              <c:ptCount val="3"/>
              <c:pt idx="0">
                <c:v>365</c:v>
              </c:pt>
              <c:pt idx="1">
                <c:v>263</c:v>
              </c:pt>
              <c:pt idx="2">
                <c:v>171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07-4244-BA0D-BB4221FFEC5C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DO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DO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NSS</c:v>
          </c:tx>
          <c:spPr>
            <a:solidFill>
              <a:srgbClr val="DC262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Facturación</c:v>
              </c:pt>
              <c:pt idx="1">
                <c:v>Fibra</c:v>
              </c:pt>
              <c:pt idx="2">
                <c:v>Red móvil 5G</c:v>
              </c:pt>
              <c:pt idx="3">
                <c:v>Atención</c:v>
              </c:pt>
              <c:pt idx="4">
                <c:v>Marca</c:v>
              </c:pt>
              <c:pt idx="5">
                <c:v>Promociones</c:v>
              </c:pt>
            </c:strLit>
          </c:cat>
          <c:val>
            <c:numLit>
              <c:formatCode>General</c:formatCode>
              <c:ptCount val="6"/>
              <c:pt idx="0">
                <c:v>-32.53</c:v>
              </c:pt>
              <c:pt idx="1">
                <c:v>-29.14</c:v>
              </c:pt>
              <c:pt idx="2">
                <c:v>-26.04</c:v>
              </c:pt>
              <c:pt idx="3">
                <c:v>-7.39</c:v>
              </c:pt>
              <c:pt idx="4">
                <c:v>23.75</c:v>
              </c:pt>
              <c:pt idx="5">
                <c:v>33.33</c:v>
              </c:pt>
            </c:numLit>
          </c:val>
          <c:extLst>
            <c:ext xmlns:c16="http://schemas.microsoft.com/office/drawing/2014/chart" uri="{C3380CC4-5D6E-409C-BE32-E72D297353CC}">
              <c16:uniqueId val="{00000000-6BB3-8E40-BCDD-639F0E965B16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 b="1">
                <a:solidFill>
                  <a:schemeClr val="tx1"/>
                </a:solidFill>
              </a:defRPr>
            </a:pPr>
            <a:endParaRPr lang="es-DO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DO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8b942caffb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g38b942caffb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Tiempo sugerido: 45 segundos.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Orlando: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Saludos Mi nombre es Orlando Benítez y junto a Audric  Rosario presentamos nuestro proyecto final: Auditoría de Experiencia del Cliente y Sentimiento de Marca en Telecomunicaciones mediante NLP y YouTube Data API v3, aplicado a Claro República Dominicana.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La idea central es convertir comentarios públicos de YouTube en inteligencia de negocio. Los clientes ya hablan sobre fibra, red móvil, facturación y soporte; el reto es ordenar esa voz dispersa y transformarla en decisiones útiles.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Transición: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Veamos primero el problema empresarial que justifica este análisis.</a:t>
            </a:r>
            <a:endParaRPr/>
          </a:p>
        </p:txBody>
      </p:sp>
      <p:sp>
        <p:nvSpPr>
          <p:cNvPr id="14" name="Google Shape;14;g38b942caffb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Tiempo sugerido: 55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Orlando: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El problema es que las encuestas tradicionales llegan tarde y tienen baja respuesta. Mientras la empresa espera resultados, los clientes ya están expresando molestias públicamente en YouTube.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En esos comentarios aparecen señales sobre caídas de fibra óptica, lentitud de red móvil, dudas de facturación, problemas con la App Mi Claro y experiencias con soporte. Por eso tomamos YouTube como una fuente abierta para escuchar al cliente sin pedirle que complete una encuesta.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Trabajamos con 799 comentarios reales, provenientes de 39 videos con comentarios disponibles, y usamos solo 649 unidades de cuota de la API. Esto demuestra que el proyecto es viable con herramientas gratuitas y consumo controlado.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Transición: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Ahora Audric explica cómo convertimos esos comentarios en un pipeline reproducible.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Tiempo sugerido: 60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Audric: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Construimos un pipeline de extremo a extremo. Primero, usamos YouTube Data API v3 para extraer comentarios y metadatos como video, autor, fecha, likes, respuestas y texto original.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Luego congelamos los datos en CSV y JSON. Esto permite auditar el proyecto aunque cambien los comentarios en YouTube o no haya una clave activa de Google Cloud.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Después limpiamos el texto: normalizamos acentos, eliminamos URLs, menciones y ruido, y conservamos la categoría de servicio para analizar fibra, red móvil, facturación, soporte, promociones o experiencia general de marca.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Finalmente aplicamos el modelo Transformer BETO para convertir texto desestructurado en etiquetas de sentimiento y puntajes de confianza.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Transición: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Veamos los resultados principales del modelo.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Tiempo sugerido: 65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Audric: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Usamos BETO, un Transformer preentrenado para español, específicamente finiteautomata/beto-sentiment-analysis. Eliminamos el fallback léxico para no depender de listas manuales de palabras positivas o negativas; el modelo analiza el contexto completo del comentario.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Esto importa porque los comentarios dominicanos mezclan modismos, abreviaturas, errores ortográficos y términos técnicos como fibra, ping, megas, LTE o avería.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Los resultados fueron: 365 comentarios neutros, equivalentes al 45.7%; 263 negativos, equivalentes al 32.9%; y 171 positivos, equivalentes al 21.4%. Con eso, el Net Sentiment Score queda en -11.5%.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Interpretación: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El canal está dominado por consultas operativas y quejas. La frustración supera los elogios, por eso el NSS cae por debajo de cero.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Transición: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Ahora veamos dónde se concentra esa fricción.</a:t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Tiempo sugerido: 60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Orlando: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Al separar el sentimiento por categoría, aparecen los focos de acción. El peor resultado está en Facturación y Tarifas, con NSS de -32.5%. Luego viene Fibra Óptica e Internet Hogar, con -29.1%, y Red Móvil y Cobertura 5G, con -26.0%.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Esto nos dice que el problema no es solo percepción general; hay fricciones operativas concretas. Facturación toca dinero y confianza. Fibra afecta trabajo, clases y vida diaria. Red móvil afecta conectividad constante.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También vemos que la Experiencia General de Marca conserva NSS positivo de +23.8%. Eso significa que Claro aún tiene capital reputacional, pero debe protegerlo resolviendo los puntos críticos.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Transición: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Para que estos hallazgos sean útiles a gerencia, los llevamos a un dashboard ejecutivo.</a:t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sugerido: 60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Audric: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dashboard fue desarrollado en Python con Plotly y exportado como HTML autónomo. Su objetivo es que una persona directiva pueda abrirlo y entender rápidamente qué está pasando.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Arriba aparecen los KPIs: 799 opiniones auditadas, NSS de -11.5%, aprobación de 21.4% y categorías críticas como fibra y facturación. Luego los gráficos permiten comparar sentimiento por servicio, volumen y reacciones.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hallazgo importante es la resonancia comunitaria. Las quejas negativas acumulan más de 550 likes y alcanzan picos de hasta 40 reacciones. Una queja con respaldo público pesa más que una queja aislada.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Transición: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 esa inteligencia, proponemos una solución operativa: Claro Sentinel.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sugerido: 65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Orlando: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solución propuesta se llama Claro Sentinel NLP. La idea es conectar la escucha social con soporte. El sistema monitorea comentarios, clasifica sentimiento con BETO, detecta reclamos críticos y genera un pre-ticket para CRM o para la cola de atención.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flujo es simple: monitoreo de YouTube, detección de quejas prioritarias, creación de pre-ticket y respuesta del equipo de soporte en menos de 2 horas.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presupuesto estimado es de 4,850 dólares anuales de infraestructura cloud. El retorno viene por retención: si la empresa evita que solo 15 clientes residenciales se cambien de proveedor cada mes, el proyecto se amortiza en menos de 90 días y puede superar 300% de ROI en el primer año.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Transición: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Cerramos con las conclusiones y recomendaciones.</a:t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sugerido: 50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Audric: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Como conclusión técnica, demostramos que con herramientas gratuitas, YouTube Data API v3, Python, Plotly y BETO se puede crear una solución reproducible de analítica empresarial. El proyecto convierte comentarios desestructurados en indicadores de sentimiento, riesgo y prioridad.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Desde negocio, recomendamos acelerar la respuesta del soporte virtual, auditar la estabilidad de fibra óptica e internet hogar, y revisar procesos de facturación y comunicación de planes.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Cierre: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voz pública del cliente ya existe. La ventaja está en escucharla antes que la competencia, priorizarla con analítica y responder con acciones concretas. Muchas gracias.</a:t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38b942caffb_0_0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8b942caffb_0_0"/>
          <p:cNvSpPr/>
          <p:nvPr/>
        </p:nvSpPr>
        <p:spPr>
          <a:xfrm>
            <a:off x="0" y="0"/>
            <a:ext cx="5810400" cy="6858000"/>
          </a:xfrm>
          <a:prstGeom prst="rect">
            <a:avLst/>
          </a:prstGeom>
          <a:gradFill>
            <a:gsLst>
              <a:gs pos="0">
                <a:srgbClr val="BFBFBF"/>
              </a:gs>
              <a:gs pos="0">
                <a:srgbClr val="102A43"/>
              </a:gs>
              <a:gs pos="100000">
                <a:srgbClr val="737373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8b942caffb_0_0"/>
          <p:cNvSpPr/>
          <p:nvPr/>
        </p:nvSpPr>
        <p:spPr>
          <a:xfrm>
            <a:off x="0" y="0"/>
            <a:ext cx="133500" cy="6858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8b942caffb_0_0"/>
          <p:cNvSpPr/>
          <p:nvPr/>
        </p:nvSpPr>
        <p:spPr>
          <a:xfrm>
            <a:off x="1714500" y="6382250"/>
            <a:ext cx="32862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</a:rPr>
              <a:t>APLICACIONES ANALÍTICA DE BIG DATA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" name="Google Shape;20;g38b942caffb_0_0"/>
          <p:cNvCxnSpPr/>
          <p:nvPr/>
        </p:nvCxnSpPr>
        <p:spPr>
          <a:xfrm>
            <a:off x="666750" y="4505325"/>
            <a:ext cx="1809600" cy="0"/>
          </a:xfrm>
          <a:prstGeom prst="straightConnector1">
            <a:avLst/>
          </a:prstGeom>
          <a:noFill/>
          <a:ln cap="flat" cmpd="sng" w="57150">
            <a:solidFill>
              <a:srgbClr val="DA29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8b942caffb_0_0"/>
          <p:cNvSpPr/>
          <p:nvPr/>
        </p:nvSpPr>
        <p:spPr>
          <a:xfrm>
            <a:off x="476175" y="4714238"/>
            <a:ext cx="4857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75">
                <a:solidFill>
                  <a:srgbClr val="FFFFFF"/>
                </a:solidFill>
              </a:rPr>
              <a:t>Audric André Rosario Rosario  |  Orlando Benítez Ventura</a:t>
            </a:r>
            <a:endParaRPr/>
          </a:p>
        </p:txBody>
      </p:sp>
      <p:sp>
        <p:nvSpPr>
          <p:cNvPr id="22" name="Google Shape;22;g38b942caffb_0_0"/>
          <p:cNvSpPr/>
          <p:nvPr/>
        </p:nvSpPr>
        <p:spPr>
          <a:xfrm>
            <a:off x="1994900" y="6146750"/>
            <a:ext cx="29361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5">
                <a:solidFill>
                  <a:srgbClr val="B9CAD5"/>
                </a:solidFill>
              </a:rPr>
              <a:t>Proyecto final </a:t>
            </a:r>
            <a:r>
              <a:rPr lang="es-ES" sz="1125">
                <a:solidFill>
                  <a:srgbClr val="B9CAD5"/>
                </a:solidFill>
              </a:rPr>
              <a:t>| </a:t>
            </a:r>
            <a:r>
              <a:rPr b="0" lang="es-ES" sz="1125">
                <a:solidFill>
                  <a:srgbClr val="B9CAD5"/>
                </a:solidFill>
              </a:rPr>
              <a:t>Septiembre 2026</a:t>
            </a:r>
            <a:endParaRPr/>
          </a:p>
        </p:txBody>
      </p:sp>
      <p:pic>
        <p:nvPicPr>
          <p:cNvPr id="23" name="Google Shape;23;g38b942caff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150" y="6000750"/>
            <a:ext cx="1572650" cy="7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38b942caffb_0_0"/>
          <p:cNvSpPr txBox="1"/>
          <p:nvPr/>
        </p:nvSpPr>
        <p:spPr>
          <a:xfrm>
            <a:off x="542925" y="4849025"/>
            <a:ext cx="17280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100089140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" name="Google Shape;25;g38b942caffb_0_0"/>
          <p:cNvSpPr txBox="1"/>
          <p:nvPr/>
        </p:nvSpPr>
        <p:spPr>
          <a:xfrm>
            <a:off x="2895600" y="4849025"/>
            <a:ext cx="17280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100090873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" name="Google Shape;26;g38b942caffb_0_0"/>
          <p:cNvSpPr/>
          <p:nvPr/>
        </p:nvSpPr>
        <p:spPr>
          <a:xfrm>
            <a:off x="476175" y="1266250"/>
            <a:ext cx="51435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Auditoría de experiencia y sentimiento de marca en Claro RD</a:t>
            </a:r>
            <a:endParaRPr/>
          </a:p>
        </p:txBody>
      </p:sp>
      <p:sp>
        <p:nvSpPr>
          <p:cNvPr id="27" name="Google Shape;27;g38b942caffb_0_0"/>
          <p:cNvSpPr/>
          <p:nvPr/>
        </p:nvSpPr>
        <p:spPr>
          <a:xfrm>
            <a:off x="476175" y="3218938"/>
            <a:ext cx="48579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Análisis de comentarios reales de YouTube con YouTube Data API v3, Python, Plotly y Transformer BETO.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609600" y="400050"/>
            <a:ext cx="8572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25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El problema no es falta de datos, es falta de escucha en tiempo real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09600" y="1314450"/>
            <a:ext cx="819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Las encuestas tradicionales llegan tarde; los comentarios públicos ya contienen señales de riesgo.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19150" y="2152650"/>
            <a:ext cx="104775" cy="104775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085850" y="1938641"/>
            <a:ext cx="44196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Las encuestas por llamada o SMS tienen baja respuesta y tardan semanas en consolidarse.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19150" y="2919920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085850" y="2804403"/>
            <a:ext cx="44196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YouTube concentra quejas espontáneas sobre fibra, red móvil, facturación y soporte.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19150" y="3667731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085850" y="3459804"/>
            <a:ext cx="44196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Sin analítica automatizada, la gerencia ve el problema cuando ya afectó la reputación y churn.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591300" y="1752600"/>
            <a:ext cx="4457700" cy="314325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953250" y="2152650"/>
            <a:ext cx="16954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124700" y="228600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96%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124700" y="268605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&lt;4% respuesta típica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915400" y="2152650"/>
            <a:ext cx="16954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086850" y="228600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799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086850" y="268605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Comentarios reales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953250" y="3486150"/>
            <a:ext cx="16954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124700" y="361950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124700" y="401955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Videos auditados</a:t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915400" y="3486150"/>
            <a:ext cx="16954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086850" y="361950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649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086850" y="401955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Cuota API usada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09600" y="6438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Aplicaciones Analíticas de Big Data | Claro RD | Transformer BETO</a:t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1049000" y="64389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609600" y="400050"/>
            <a:ext cx="8572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25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El pipeline convierte comentarios dispersos en evidencia auditable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3679" y="1181100"/>
            <a:ext cx="598615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Extracción, congelamiento local, limpieza y clasificación quedan documentados para reproducibilidad.</a:t>
            </a:r>
            <a:endParaRPr/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9419" r="9419" t="0"/>
          <a:stretch/>
        </p:blipFill>
        <p:spPr>
          <a:xfrm>
            <a:off x="6781800" y="1390650"/>
            <a:ext cx="52197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781050" y="17526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447800" y="171450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YouTube Data API v3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447800" y="203835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Consulta controlada con 649 unidades de cuota.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81050" y="25908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447800" y="255270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Datos crudos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447800" y="287655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799 comentarios únicos guardados en CSV y JSON.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81050" y="34290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447800" y="339090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Preprocesamiento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447800" y="371475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Normalización, limpieza y tokens de análisis.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81050" y="42672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447800" y="422910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Transformer BETO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447800" y="455295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Clasificación semántica sin fallback léxico.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09600" y="6438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Aplicaciones Analíticas de Big Data | Claro RD | Transformer BETO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1049000" y="64389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609600" y="400050"/>
            <a:ext cx="8572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25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BETO revela una conversación dominada por consultas y quejas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9600" y="1257300"/>
            <a:ext cx="819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El NSS negativo muestra que la fricción operativa supera los elogios.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723900" y="1657350"/>
            <a:ext cx="2381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95350" y="179070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45.7%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895350" y="219075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Comentarios neutros</a:t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429000" y="1657350"/>
            <a:ext cx="2381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00450" y="179070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32.9%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600450" y="219075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Comentarios negativos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134100" y="1657350"/>
            <a:ext cx="2381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305550" y="179070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21.4%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305550" y="219075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Comentarios positivos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8839200" y="1657350"/>
            <a:ext cx="2381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9010650" y="179070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-11.5%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9010650" y="2190750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Net Sentiment Score</a:t>
            </a:r>
            <a:endParaRPr/>
          </a:p>
        </p:txBody>
      </p:sp>
      <p:graphicFrame>
        <p:nvGraphicFramePr>
          <p:cNvPr id="97" name="Google Shape;97;p4"/>
          <p:cNvGraphicFramePr/>
          <p:nvPr/>
        </p:nvGraphicFramePr>
        <p:xfrm>
          <a:off x="475034" y="3276600"/>
          <a:ext cx="4953000" cy="2657272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98" name="Google Shape;98;p4"/>
          <p:cNvGraphicFramePr/>
          <p:nvPr/>
        </p:nvGraphicFramePr>
        <p:xfrm>
          <a:off x="5905500" y="3314700"/>
          <a:ext cx="4953000" cy="23812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99" name="Google Shape;99;p4"/>
          <p:cNvSpPr/>
          <p:nvPr/>
        </p:nvSpPr>
        <p:spPr>
          <a:xfrm>
            <a:off x="609600" y="6438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Aplicaciones Analíticas de Big Data | Claro RD | Transformer BETO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1049000" y="64389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609600" y="400050"/>
            <a:ext cx="8572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25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Las categorías críticas explican dónde debe actuar soporte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28650" y="1390650"/>
            <a:ext cx="819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Facturación, fibra y red móvil concentran los focos de fricción más urgentes.</a:t>
            </a:r>
            <a:endParaRPr/>
          </a:p>
        </p:txBody>
      </p:sp>
      <p:graphicFrame>
        <p:nvGraphicFramePr>
          <p:cNvPr id="108" name="Google Shape;108;p5"/>
          <p:cNvGraphicFramePr/>
          <p:nvPr/>
        </p:nvGraphicFramePr>
        <p:xfrm>
          <a:off x="762000" y="1752600"/>
          <a:ext cx="6667500" cy="3733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9" name="Google Shape;109;p5"/>
          <p:cNvSpPr/>
          <p:nvPr/>
        </p:nvSpPr>
        <p:spPr>
          <a:xfrm>
            <a:off x="8020050" y="2209800"/>
            <a:ext cx="104775" cy="104775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8286750" y="2133600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Facturación y tarifas es el foco de mayor deterioro.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020050" y="2724150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286750" y="2647950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Fibra e internet hogar sostienen una señal negativa relevante.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8020050" y="3238500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8286750" y="3162300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 marca conserva capital reputacional, pero no compensa la fricción operativa.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09600" y="6438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Aplicaciones Analíticas de Big Data | Claro RD | Transformer BETO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1049000" y="64389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20375" r="20375" t="0"/>
          <a:stretch/>
        </p:blipFill>
        <p:spPr>
          <a:xfrm>
            <a:off x="5355178" y="0"/>
            <a:ext cx="691089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0" y="0"/>
            <a:ext cx="657225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23825" y="561975"/>
            <a:ext cx="5334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dashboard convierte el análisis en conversación gerencial</a:t>
            </a:r>
            <a:endParaRPr b="1" sz="2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3502" y="2343150"/>
            <a:ext cx="104775" cy="104775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20202" y="2266950"/>
            <a:ext cx="4305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KPIs ejecutivos para volumen, aprobación, NSS y focos de quejas.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3502" y="2896410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20202" y="2781300"/>
            <a:ext cx="4305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Gráficos interactivos en Plotly para explorar categorías y reacciones.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53502" y="3469125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20202" y="3295650"/>
            <a:ext cx="4305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Las quejas negativas acumulan respaldo comunitario y elevan riesgo reputacional.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09600" y="6438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Aplicaciones Analíticas de Big Data | Claro RD | Transformer BETO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1049000" y="64389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609600" y="400050"/>
            <a:ext cx="8572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25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Claro Sentinel traduce cada alerta en una acción de retención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28650" y="1390650"/>
            <a:ext cx="819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 propuesta conecta monitoreo social, priorización NLP y CRM de soporte.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42950" y="2000250"/>
            <a:ext cx="2152650" cy="135255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1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52500" y="2247900"/>
            <a:ext cx="1733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Monitoreo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933450" y="27051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YouTube API v3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009900" y="2438400"/>
            <a:ext cx="40005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524250" y="2000250"/>
            <a:ext cx="2152650" cy="1352550"/>
          </a:xfrm>
          <a:prstGeom prst="roundRect">
            <a:avLst>
              <a:gd fmla="val 5634" name="adj"/>
            </a:avLst>
          </a:prstGeom>
          <a:solidFill>
            <a:srgbClr val="FEE2E2"/>
          </a:solidFill>
          <a:ln cap="flat" cmpd="sng" w="114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733800" y="2247900"/>
            <a:ext cx="1733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Detección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714750" y="27051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BETO + reglas de prioridad</a:t>
            </a:r>
            <a:endParaRPr sz="10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791200" y="2438400"/>
            <a:ext cx="40005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6305550" y="2000250"/>
            <a:ext cx="2152650" cy="135255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1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515100" y="2247900"/>
            <a:ext cx="1733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Pre-ticket</a:t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496050" y="27051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CRM y cola de soporte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8572500" y="2438400"/>
            <a:ext cx="40005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9086850" y="2000250"/>
            <a:ext cx="2152650" cy="135255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1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9296400" y="2247900"/>
            <a:ext cx="1733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Respuesta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9277350" y="27051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Contacto público en menos de 2 horas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752600" y="4476750"/>
            <a:ext cx="23431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924050" y="461010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$4,850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924050" y="501015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Infraestructura anual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895850" y="4476750"/>
            <a:ext cx="23431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067300" y="461010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&lt;90 días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067300" y="501015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Payback estimado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8039100" y="4476750"/>
            <a:ext cx="23431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210550" y="461010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&gt;300%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210550" y="501015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ROI primer año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09600" y="6438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Aplicaciones Analíticas de Big Data | Claro RD | Transformer BETO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1049000" y="64389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609600" y="400050"/>
            <a:ext cx="8572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25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 voz pública del cliente ya puede convertirse en ventaja competitiva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28650" y="1390650"/>
            <a:ext cx="819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El proyecto demuestra una ruta viable, gratuita y reproducible para actuar antes de perder al cliente.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76300" y="2038350"/>
            <a:ext cx="104775" cy="104775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143000" y="1962150"/>
            <a:ext cx="5067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Herramientas abiertas y gratuitas pueden producir analítica empresarial auditable.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876300" y="2552700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143000" y="2476500"/>
            <a:ext cx="5067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BETO mejora la lectura semántica del comentario dominicano frente a reglas léxicas fijas.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876300" y="3067050"/>
            <a:ext cx="104775" cy="10477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143000" y="2990850"/>
            <a:ext cx="5067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Las prioridades inmediatas son facturación, fibra y respuesta visible de soporte.</a:t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086600" y="2000250"/>
            <a:ext cx="3429000" cy="2381250"/>
          </a:xfrm>
          <a:prstGeom prst="roundRect">
            <a:avLst>
              <a:gd fmla="val 3200" name="adj"/>
            </a:avLst>
          </a:prstGeom>
          <a:solidFill>
            <a:srgbClr val="0F172A"/>
          </a:solidFill>
          <a:ln>
            <a:noFill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467600" y="2438400"/>
            <a:ext cx="26670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Recomendación final: activar monitoreo social, priorizar quejas críticas y cerrar el ciclo de respuesta en CRM.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09600" y="6438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Aplicaciones Analíticas de Big Data | Claro RD | Transformer BETO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1049000" y="64389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2026-09-07T01:38:13Z</dcterms:created>
  <dc:creator>Walnut Exporter</dc:creator>
</cp:coreProperties>
</file>